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-4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-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-4.png"/><Relationship Id="rId3" Type="http://schemas.openxmlformats.org/officeDocument/2006/relationships/image" Target="../media/image-1-4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-4.pn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4.png"/><Relationship Id="rId2" Type="http://schemas.openxmlformats.org/officeDocument/2006/relationships/image" Target="../media/image-15-2.jpg"/><Relationship Id="rId3" Type="http://schemas.openxmlformats.org/officeDocument/2006/relationships/image" Target="../media/image-5-1.jpg"/><Relationship Id="rId4" Type="http://schemas.openxmlformats.org/officeDocument/2006/relationships/image" Target="../media/image-4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1-4.png"/><Relationship Id="rId3" Type="http://schemas.openxmlformats.org/officeDocument/2006/relationships/image" Target="../media/image-2-4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2-4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2-4.png"/><Relationship Id="rId3" Type="http://schemas.openxmlformats.org/officeDocument/2006/relationships/image" Target="../media/image-1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rotWithShape="1" flip="none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3385" y="3368040"/>
            <a:ext cx="5079365" cy="3112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Face Recognition: A 2022 Survey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47318" y="5477510"/>
            <a:ext cx="4111625" cy="333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47318" y="5974715"/>
            <a:ext cx="4111625" cy="333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时间：2025/01/01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650" y="4872355"/>
            <a:ext cx="591185" cy="457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0-d2sj6rm1bb2p4onbprjg.jpg">    </p:cNvPr>
          <p:cNvPicPr>
            <a:picLocks noChangeAspect="1"/>
          </p:cNvPicPr>
          <p:nvPr/>
        </p:nvPicPr>
        <p:blipFill>
          <a:blip r:embed="rId1"/>
          <a:srcRect l="0" r="44477" t="19721" b="0"/>
          <a:stretch/>
        </p:blipFill>
        <p:spPr>
          <a:xfrm>
            <a:off x="4892675" y="0"/>
            <a:ext cx="729932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403205" cy="685800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71000">
                <a:srgbClr val="9A62FE">
                  <a:alpha val="0"/>
                </a:srgbClr>
              </a:gs>
              <a:gs pos="100000">
                <a:srgbClr val="9A62FE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040320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625" y="205676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55625" y="205676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3175" y="589915"/>
            <a:ext cx="2288540" cy="857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2280000">
            <a:off x="509905" y="739140"/>
            <a:ext cx="734060" cy="72326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4:36:27-d2sj6qu1bb2p4onbpri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40000">
            <a:off x="3284855" y="-2155190"/>
            <a:ext cx="5622290" cy="556387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16200000">
            <a:off x="7287260" y="1793240"/>
            <a:ext cx="6697980" cy="31115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55625" y="274129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6"/>
          <p:cNvSpPr/>
          <p:nvPr/>
        </p:nvSpPr>
        <p:spPr>
          <a:xfrm>
            <a:off x="555625" y="274129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55625" y="342582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8"/>
          <p:cNvSpPr/>
          <p:nvPr/>
        </p:nvSpPr>
        <p:spPr>
          <a:xfrm>
            <a:off x="555625" y="342582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55625" y="411035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555625" y="411035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55625" y="479488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2"/>
          <p:cNvSpPr/>
          <p:nvPr/>
        </p:nvSpPr>
        <p:spPr>
          <a:xfrm>
            <a:off x="555625" y="479488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55625" y="547941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4"/>
          <p:cNvSpPr/>
          <p:nvPr/>
        </p:nvSpPr>
        <p:spPr>
          <a:xfrm>
            <a:off x="555625" y="547941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55625" y="200279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238885" y="200279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 &amp; Background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5625" y="269367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238885" y="269367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Purpose &amp; Scope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55625" y="338455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238885" y="338455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 &amp; Process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55625" y="407543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238885" y="407543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Experiments &amp; Results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55625" y="476631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238885" y="476631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Outlook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555625" y="545719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238885" y="545719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 &amp; Background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8-d2sj7061bb2p4onbprs0.jp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9016" r="9024" t="0" b="0"/>
          <a:stretch/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044315" y="1404620"/>
            <a:ext cx="8147685" cy="202438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5" name="Text 1"/>
          <p:cNvSpPr/>
          <p:nvPr/>
        </p:nvSpPr>
        <p:spPr>
          <a:xfrm>
            <a:off x="4044315" y="1404620"/>
            <a:ext cx="8147685" cy="20243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4051935"/>
            <a:ext cx="8147685" cy="202438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3"/>
          <p:cNvSpPr/>
          <p:nvPr/>
        </p:nvSpPr>
        <p:spPr>
          <a:xfrm>
            <a:off x="0" y="4051935"/>
            <a:ext cx="8147685" cy="20243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2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51230" y="2301240"/>
            <a:ext cx="1136650" cy="95377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3080" y="4963160"/>
            <a:ext cx="1136650" cy="9537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34950" y="701040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 &amp; Team Overview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087880" y="1548765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16255" y="4125595"/>
            <a:ext cx="425831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 Title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16255" y="4509770"/>
            <a:ext cx="7315835" cy="14820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title of our survey paper is '3D Face Recognition: A Comprehensive Survey in 2022'. It provides an in-depth review of the advancements in 3D face recognition techniques over the past decade.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517255" y="4226560"/>
            <a:ext cx="2268855" cy="2023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258945" y="1492885"/>
            <a:ext cx="425831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Introduction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258945" y="1877060"/>
            <a:ext cx="7315835" cy="14820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team is dedicated to exploring the latest developments in 3D face recognition. Members have divided tasks including literature review, slide preparation, and presentation.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8-d2sj7061bb2p4onbprtg.jpg">    </p:cNvPr>
          <p:cNvPicPr>
            <a:picLocks noChangeAspect="1"/>
          </p:cNvPicPr>
          <p:nvPr/>
        </p:nvPicPr>
        <p:blipFill>
          <a:blip r:embed="rId1"/>
          <a:srcRect l="34641" r="0" t="0" b="0"/>
          <a:stretch/>
        </p:blipFill>
        <p:spPr>
          <a:xfrm>
            <a:off x="0" y="-635"/>
            <a:ext cx="7968615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5" name="Text 1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52235" y="3181350"/>
            <a:ext cx="5318125" cy="38417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3"/>
          <p:cNvSpPr/>
          <p:nvPr/>
        </p:nvSpPr>
        <p:spPr>
          <a:xfrm>
            <a:off x="6452235" y="3181350"/>
            <a:ext cx="5318125" cy="384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91605" y="4939030"/>
            <a:ext cx="5318125" cy="38417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9" name="Text 5"/>
          <p:cNvSpPr/>
          <p:nvPr/>
        </p:nvSpPr>
        <p:spPr>
          <a:xfrm>
            <a:off x="6491605" y="4939030"/>
            <a:ext cx="5318125" cy="384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Background &amp; Motivation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044950" y="167767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Limitations of 2D Face Recognition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044950" y="206184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2D face recognition struggles with issues like varying illumination, pose, expression, and occlusion, which limit its accuracy and robustness in real-world applications.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52235" y="318135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 of 3D Data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52235" y="3565525"/>
            <a:ext cx="5337810" cy="1256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facial geometry offers richer discriminative features that are less sensitive to the aforementioned variations, making it a promising direction for improving recognition performance.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1605" y="493903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1605" y="5323205"/>
            <a:ext cx="5337810" cy="12687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Despite the progress, there is a lack of comprehensive surveys that cover both conventional and deep learning-based 3D face recognition methods, which this paper aims to fill.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Purpose &amp; Scope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6720" y="3153410"/>
            <a:ext cx="2527300" cy="76898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42672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29305" y="1447165"/>
            <a:ext cx="2527300" cy="76898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329305" y="1447165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34475" y="1447165"/>
            <a:ext cx="2527300" cy="76898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9134475" y="1447165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Survey Goal &amp; Coverage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7260" y="124460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6085" y="3162935"/>
            <a:ext cx="2527300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Review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2905" y="3928110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survey aims to provide the first systematic review that unifies conventional geometric techniques and deep learning approaches for 3D face recognition.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84575" y="461645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29305" y="1441450"/>
            <a:ext cx="252730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Emphasis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85490" y="2221865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places special emphasis on deep learning-based methods, which have shown significant potential but are underrepresented in previous surveys.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42430" y="134239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Comparative Evaluation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88075" y="3928110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paper offers a comprehensive comparison of existing methods using available databases, highlighting their strengths and weaknesses.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14205" y="428752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34475" y="1441450"/>
            <a:ext cx="252730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Challenges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90660" y="2221865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identifies future research challenges and directions to guide ongoing and future work in the field of 3D face recognition.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 &amp; Process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405" y="445135"/>
            <a:ext cx="11475720" cy="5359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19405" y="445135"/>
            <a:ext cx="11475720" cy="5359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0800000">
            <a:off x="319405" y="5839460"/>
            <a:ext cx="11475085" cy="653415"/>
          </a:xfrm>
          <a:prstGeom prst="round2SameRect">
            <a:avLst>
              <a:gd name="adj1" fmla="val 34095"/>
              <a:gd name="adj2" fmla="val 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 rot="10800000">
            <a:off x="319405" y="5839460"/>
            <a:ext cx="11475085" cy="653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0" descr="https://kimi-img.moonshot.cn/pub/slides/slides_tmpl/image/25-09-04-14:36:34-d2sj6sm1bb2p4onbprm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3015615"/>
            <a:ext cx="5305425" cy="262826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4-14:36:37-d2sj6te1bb2p4onbprn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345" y="2992120"/>
            <a:ext cx="5507355" cy="265620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34-d2sj6sm1bb2p4onbpr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765" y="6022975"/>
            <a:ext cx="235585" cy="3054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15105" y="522605"/>
            <a:ext cx="40824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Taxonomy of 3D Recognition Techniques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19405" y="1195070"/>
            <a:ext cx="4739640" cy="485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19405" y="1795145"/>
            <a:ext cx="11474450" cy="12204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paper categorizes 3D face recognition techniques into conventional methods (local, global, hybrid) and deep learning-based methods (2D-input, 3D-input, graph-input networks).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8-d2sj7061bb2p4onbprt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655" y="1539875"/>
            <a:ext cx="2598420" cy="44354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555750"/>
            <a:ext cx="781050" cy="60388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044950" y="3171825"/>
            <a:ext cx="7745095" cy="36893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3"/>
          <p:cNvSpPr/>
          <p:nvPr/>
        </p:nvSpPr>
        <p:spPr>
          <a:xfrm>
            <a:off x="4044950" y="3171825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4044950" y="4650740"/>
            <a:ext cx="7745095" cy="36893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0" name="Text 5"/>
          <p:cNvSpPr/>
          <p:nvPr/>
        </p:nvSpPr>
        <p:spPr>
          <a:xfrm>
            <a:off x="4044950" y="4650740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650" y="3048635"/>
            <a:ext cx="781050" cy="60388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160" y="4541520"/>
            <a:ext cx="781050" cy="60388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Architectures Reviewed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044949" y="1677670"/>
            <a:ext cx="7732395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Backbones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4044950" y="206184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Prominent CNN architectures like VGG-Face, ResNet, and MobileNet are reviewed for their application in 3D face recognition.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044950" y="3171825"/>
            <a:ext cx="776478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044950" y="3556000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Techniques such as 3D morphable models and GANs are used for data augmentation to address the scarcity of large 3D datasets.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044950" y="4650740"/>
            <a:ext cx="7732394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Loss Functions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044950" y="503491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Various loss functions including softmax, triplet, and attribute-aware losses are discussed for improving recognition accuracy.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Experiments &amp; Results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5-d2sj6su1bb2p4onbprm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966460" y="1495425"/>
            <a:ext cx="5441950" cy="1814195"/>
          </a:xfrm>
          <a:prstGeom prst="rect">
            <a:avLst/>
          </a:prstGeom>
          <a:solidFill>
            <a:srgbClr val="262626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66460" y="1495425"/>
            <a:ext cx="5441950" cy="18141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05500" y="1463040"/>
            <a:ext cx="5339080" cy="171259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5905500" y="1463040"/>
            <a:ext cx="5339080" cy="17125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42-d2sj6um1bb2p4onbpro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" y="1463040"/>
            <a:ext cx="5100955" cy="43402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 Protocols &amp; Datasets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966460" y="3993515"/>
            <a:ext cx="5441950" cy="1814195"/>
          </a:xfrm>
          <a:prstGeom prst="rect">
            <a:avLst/>
          </a:prstGeom>
          <a:solidFill>
            <a:srgbClr val="262626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66460" y="3993515"/>
            <a:ext cx="5441950" cy="18141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905500" y="3961130"/>
            <a:ext cx="5339080" cy="171259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5" name="Text 10"/>
          <p:cNvSpPr/>
          <p:nvPr/>
        </p:nvSpPr>
        <p:spPr>
          <a:xfrm>
            <a:off x="5905500" y="3961130"/>
            <a:ext cx="5339080" cy="17125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905500" y="144780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Benchmarking Metrics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65495" y="1844675"/>
            <a:ext cx="533908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unified rank-1 recognition rate is used as the primary metric to evaluate the performance of different 3D face recognition methods.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905500" y="394589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 Diversity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865495" y="4342765"/>
            <a:ext cx="533908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wide range of public 3D face databases are compiled, including FRGC v2, Texas-3D, and Bosphorus, to validate the robustness of the methods.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9-d2sj6tu1bb2p4onbpr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 rot="5400000">
            <a:off x="-589915" y="495300"/>
            <a:ext cx="6858000" cy="58680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58430" y="-1572895"/>
            <a:ext cx="5327015" cy="52482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747510" y="1352550"/>
            <a:ext cx="382651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Comparison &amp; Insights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4-14:36:27-d2sj6qu1bb2p4onbpri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700000">
            <a:off x="-301625" y="269875"/>
            <a:ext cx="628142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90055" y="2249170"/>
            <a:ext cx="2288540" cy="857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 Results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789420" y="3429000"/>
            <a:ext cx="3509645" cy="2693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learning-based methods achieve higher accuracy on high-quality datasets, but face challenges under extreme conditions like large occlusion or low resolution.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Outlook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56125" y="1126809"/>
            <a:ext cx="3352800" cy="70548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4556125" y="1126809"/>
            <a:ext cx="3352800" cy="7054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47870" y="1918654"/>
            <a:ext cx="3361055" cy="18040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547870" y="1918654"/>
            <a:ext cx="3361055" cy="180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8650" y="3930103"/>
            <a:ext cx="3362325" cy="7053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28650" y="3930103"/>
            <a:ext cx="3362325" cy="7053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9920" y="4697730"/>
            <a:ext cx="3361055" cy="18040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29920" y="4697730"/>
            <a:ext cx="3361055" cy="180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9-04-14:36:46-d2sj6vm1bb2p4onbprr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" y="1224369"/>
            <a:ext cx="3378835" cy="227838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4-14:36:48-d2sj7061bb2p4onbprtg.jpg">    </p:cNvPr>
          <p:cNvPicPr>
            <a:picLocks noChangeAspect="1"/>
          </p:cNvPicPr>
          <p:nvPr/>
        </p:nvPicPr>
        <p:blipFill>
          <a:blip r:embed="rId3"/>
          <a:srcRect l="2684" r="0" t="0" b="0"/>
          <a:stretch/>
        </p:blipFill>
        <p:spPr>
          <a:xfrm>
            <a:off x="4293109" y="3930103"/>
            <a:ext cx="3920553" cy="2568487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4-14:36:48-d2sj7061bb2p4onbprs0.jpg">    </p:cNvPr>
          <p:cNvPicPr>
            <a:picLocks noChangeAspect="1"/>
          </p:cNvPicPr>
          <p:nvPr/>
        </p:nvPicPr>
        <p:blipFill>
          <a:blip r:embed="rId4"/>
          <a:srcRect l="9016" r="9024" t="0" b="0"/>
          <a:stretch/>
        </p:blipFill>
        <p:spPr>
          <a:xfrm>
            <a:off x="8448675" y="1191349"/>
            <a:ext cx="3361055" cy="2311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4950" y="701040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Conclusions of the Survey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515162" y="3926928"/>
            <a:ext cx="3362325" cy="7053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2"/>
          <p:cNvSpPr/>
          <p:nvPr/>
        </p:nvSpPr>
        <p:spPr>
          <a:xfrm>
            <a:off x="8515162" y="3926928"/>
            <a:ext cx="3362325" cy="7053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516432" y="4694555"/>
            <a:ext cx="3361055" cy="18040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4"/>
          <p:cNvSpPr/>
          <p:nvPr/>
        </p:nvSpPr>
        <p:spPr>
          <a:xfrm>
            <a:off x="8516432" y="4694555"/>
            <a:ext cx="3361055" cy="180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556125" y="1123634"/>
            <a:ext cx="3352800" cy="708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Achievements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47870" y="1890714"/>
            <a:ext cx="336169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face recognition has made significant progress through deep learning, but limitations in data and robustness remain.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28649" y="3930103"/>
            <a:ext cx="3362325" cy="705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 Advantages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29920" y="4669790"/>
            <a:ext cx="336169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and hybrid methods are effective for handling occlusion, while global CNN models excel in neutral, complete scans.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515161" y="3926928"/>
            <a:ext cx="3362325" cy="705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Pipelines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516432" y="4666615"/>
            <a:ext cx="336169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approaches combining local geometry with CNN embeddings currently offer the best trade-off between accuracy and speed.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623243" y="4025900"/>
            <a:ext cx="6097270" cy="2832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Research Directions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80" y="445135"/>
            <a:ext cx="781050" cy="60388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34950" y="1798320"/>
            <a:ext cx="5299075" cy="60388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234950" y="1798320"/>
            <a:ext cx="5299075" cy="6038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34950" y="2780030"/>
            <a:ext cx="5268595" cy="3242945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4"/>
          <p:cNvSpPr/>
          <p:nvPr/>
        </p:nvSpPr>
        <p:spPr>
          <a:xfrm>
            <a:off x="234950" y="2780030"/>
            <a:ext cx="5268595" cy="32429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5623243" y="2357120"/>
            <a:ext cx="6097270" cy="2832735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623243" y="688340"/>
            <a:ext cx="6097270" cy="28327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4950" y="1798320"/>
            <a:ext cx="5268595" cy="603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Priorities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41960" y="3065145"/>
            <a:ext cx="4819650" cy="26244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work should focus on constructing large-scale 3D datasets, improving registration techniques, designing lightweight networks, and developing better loss functions.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>    </p:cNvPr>
          <p:cNvPicPr>
            <a:picLocks noChangeAspect="1"/>
          </p:cNvPicPr>
          <p:nvPr/>
        </p:nvPicPr>
        <p:blipFill>
          <a:blip r:embed="rId1"/>
          <a:srcRect l="14918" r="60738" t="13324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5-d2sj6su1bb2p4onbprm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 flip="none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hg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626360" y="1310005"/>
            <a:ext cx="6947535" cy="32277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107055" y="2998470"/>
            <a:ext cx="5645785" cy="11944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3"/>
          <p:cNvSpPr/>
          <p:nvPr/>
        </p:nvSpPr>
        <p:spPr>
          <a:xfrm>
            <a:off x="3107055" y="2998470"/>
            <a:ext cx="5645785" cy="11944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2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84225" y="4384040"/>
            <a:ext cx="10614660" cy="17056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5"/>
          <p:cNvSpPr/>
          <p:nvPr/>
        </p:nvSpPr>
        <p:spPr>
          <a:xfrm>
            <a:off x="784225" y="4384040"/>
            <a:ext cx="10614660" cy="1705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Take-Away Message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107055" y="2998470"/>
            <a:ext cx="5645785" cy="11944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31215" y="4375785"/>
            <a:ext cx="10309860" cy="2017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survey provides a comprehensive roadmap of 3D face recognition, highlighting the progress, challenges, and future directions for developing robust and efficient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rotWithShape="1" flip="none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8293" y="5477510"/>
            <a:ext cx="4111625" cy="333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8293" y="5974715"/>
            <a:ext cx="4111625" cy="333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时间：2025/01/01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9-04-14:36:30-d2sj6rm1bb2p4onbprj0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27-d2sj6qu1bb2p4onbprh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4-14:36:27-d2sj6qu1bb2p4onbpr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3" y="4872355"/>
            <a:ext cx="591185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8610" y="2062480"/>
            <a:ext cx="5326380" cy="1801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Recognition: A 2022 Survey</dc:title>
  <dc:subject>3D Face Recognition: A 2022 Survey</dc:subject>
  <dc:creator>Kimi</dc:creator>
  <cp:lastModifiedBy>Kimi</cp:lastModifiedBy>
  <cp:revision>1</cp:revision>
  <dcterms:created xsi:type="dcterms:W3CDTF">2025-12-10T13:30:28Z</dcterms:created>
  <dcterms:modified xsi:type="dcterms:W3CDTF">2025-12-10T13:30:28Z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{"Label":"3D Face Recognition: A 2022 Survey","ContentProducer":"001191110108MACG2KBH8F10000","ProduceID":"d4snb1oosk9s2ahpg3a0","ReservedCode1":"","ContentPropagator":"001191110108MACG2KBH8F20000","PropagateID":"d4snb1oosk9s2ahpg3a0","ReservedCode2":""}</vt:lpwstr>
  </property>
</Properties>
</file>